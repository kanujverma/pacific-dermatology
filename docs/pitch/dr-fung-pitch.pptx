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Lst>
  <p:sldSz cx="12188952"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OPENING — word for word:</a:t>
            </a:r>
          </a:p>
          <a:p/>
          <a:p>
            <a:r>
              <a:t>'Hey Dr. Fung, thanks for making time. I'll keep this to 20 minutes. I was actually a patient of yours a few years back — [specific memory: e.g. came in for a mole check]. I'm now doing web development, and I built something for your practice as a project. I'd love to just show it to you and get your honest reaction.'</a:t>
            </a:r>
          </a:p>
          <a:p/>
          <a:p>
            <a:r>
              <a:t>NOTE: Do NOT explain what you built yet. Just show.</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Pull up the screenshot. Say nothing. Let 3–4 seconds pass.</a:t>
            </a:r>
          </a:p>
          <a:p/>
          <a:p>
            <a:r>
              <a:t>Then: 'This is what patients see when they Google you today.'</a:t>
            </a:r>
          </a:p>
          <a:p/>
          <a:p>
            <a:r>
              <a:t>NOTE: Do NOT say anything negative about it. If he defends it, nod — 'totally, it gets the job done' — and move on immediately.</a:t>
            </a:r>
          </a:p>
          <a:p/>
          <a:p>
            <a:r>
              <a:t>BEFORE THE ZOOM: Take a full-page screenshot of pacific-dermatology.com and insert it into this slide, replacing the placeholder box.</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REVEAL — word for word:</a:t>
            </a:r>
          </a:p>
          <a:p/>
          <a:p>
            <a:r>
              <a:t>Switch browser tabs to the live site. Say:</a:t>
            </a:r>
          </a:p>
          <a:p>
            <a:r>
              <a:t>'And this is what I built.'</a:t>
            </a:r>
          </a:p>
          <a:p/>
          <a:p>
            <a:r>
              <a:t>[Pause on the hero section for 4–5 seconds. Let him look.]</a:t>
            </a:r>
          </a:p>
          <a:p/>
          <a:p>
            <a:r>
              <a:t>'I'll walk you through it in a second — but what's your first impression?'</a:t>
            </a:r>
          </a:p>
          <a:p/>
          <a:p>
            <a:r>
              <a:t>NOTE: Ask for his reaction BEFORE the walkthrough. His words tell you how engaged he is. The audience sees almost nothing on this slide — you switch tabs immediately. This slide is your cue only.</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TALKING POINTS — loose, not word for word. Keep under 4 minutes total.</a:t>
            </a:r>
          </a:p>
          <a:p/>
          <a:p>
            <a:r>
              <a:t>About section: 'I used your actual headshot — wanted it to feel like your practice, not a template.'</a:t>
            </a:r>
          </a:p>
          <a:p/>
          <a:p>
            <a:r>
              <a:t>Services page: 'Every treatment you offer is listed — medical and cosmetic. I cross-referenced your current site.'</a:t>
            </a:r>
          </a:p>
          <a:p/>
          <a:p>
            <a:r>
              <a:t>Contact page: 'Address, phone, a contact form, and Google Maps. Patients can reach you without hunting.'</a:t>
            </a:r>
          </a:p>
          <a:p/>
          <a:p>
            <a:r>
              <a:t>CHECK IN: 'Does this feel like it represents your practice?'</a:t>
            </a:r>
          </a:p>
          <a:p/>
          <a:p>
            <a:r>
              <a:t>NOTE: Only go deeper on what he asks about. You're letting him feel ownership, not demoing features.</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YOUR STORY — word for word:</a:t>
            </a:r>
          </a:p>
          <a:p/>
          <a:p>
            <a:r>
              <a:t>'So here's the honest story. I was your patient — I genuinely trust you as a doctor. When I started learning web development, I wanted a real project to build, not just a tutorial. Your practice came to mind because I know the care you put into it, and I thought it deserved a better online presence. So I just built it. No strings attached.'</a:t>
            </a:r>
          </a:p>
          <a:p/>
          <a:p>
            <a:r>
              <a:t>[Pause.]</a:t>
            </a:r>
          </a:p>
          <a:p/>
          <a:p>
            <a:r>
              <a:t>'I do have a proposal if you'd like to hear it — but even if not, I'm happy to hand this over.'</a:t>
            </a:r>
          </a:p>
          <a:p/>
          <a:p>
            <a:r>
              <a:t>NOTE: The last line is critical. It lowers stakes entirely. Only move to the pricing slide if he gives a green light — even a nod counts.</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ASK — word for word:</a:t>
            </a:r>
          </a:p>
          <a:p/>
          <a:p>
            <a:r>
              <a:t>'I want to be upfront. I'm newer to freelancing and you're genuinely someone I wanted to build this for — so I'm not coming in with agency pricing. Agencies that do this for dermatology practices charge $8–15k to build and $1,000+ a month after that.</a:t>
            </a:r>
          </a:p>
          <a:p/>
          <a:p>
            <a:r>
              <a:t>I'm proposing $750, one time. That covers the build, I handle the Vercel hosting, and I get your domain pointed to this site within a week — you just give me DNS access, which takes about five minutes on your end.'</a:t>
            </a:r>
          </a:p>
          <a:p/>
          <a:p>
            <a:r>
              <a:t>[Pause.]</a:t>
            </a:r>
          </a:p>
          <a:p/>
          <a:p>
            <a:r>
              <a:t>'And honestly — if the number doesn't work for you, I'm open to talking about it.'</a:t>
            </a:r>
          </a:p>
          <a:p/>
          <a:p>
            <a:r>
              <a:t>NOTE: 'I'm open to talking about it' signals warmth and flexibility, not desperation. It's a deliberate choice — he's not just a client, he's someone you trust.</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RETAINER — only show this slide if he's visibly engaged. Skip or skim if energy is neutral.</a:t>
            </a:r>
          </a:p>
          <a:p/>
          <a:p>
            <a:r>
              <a:t>LOOSE script:</a:t>
            </a:r>
          </a:p>
          <a:p>
            <a:r>
              <a:t>'If you ever want to take this further — this is what that looks like. The big SEO opportunity is individual pages for each treatment. When someone Googles Kybella Pleasanton or Daxxify Pleasanton, you want to show up. That's about 15–20 pages, Month 2 type work. We'd do it month-to-month, no long commitment.'</a:t>
            </a:r>
          </a:p>
          <a:p/>
          <a:p>
            <a:r>
              <a:t>'But that's all optional — the $750 stands on its own.'</a:t>
            </a:r>
          </a:p>
          <a:p/>
          <a:p>
            <a:r>
              <a:t>IF HE ASKS PRICE: '$150–$250 a month depending on what we're working on.'</a:t>
            </a:r>
          </a:p>
          <a:p>
            <a:r>
              <a:t>HOSTING COST: Vercel free tier covers this site's traffic — nothing to pass on to him.</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CLOSE — word for word:</a:t>
            </a:r>
          </a:p>
          <a:p/>
          <a:p>
            <a:r>
              <a:t>'If you want to move forward, I can have this live under pacific-dermatology.com within a week. I just need DNS access on your end — it's about five minutes, I walk you through it.</a:t>
            </a:r>
          </a:p>
          <a:p/>
          <a:p>
            <a:r>
              <a:t>If you want some time to think or show your staff, totally fine — I'll send you the link right after this call so you can pull it up whenever.</a:t>
            </a:r>
          </a:p>
          <a:p/>
          <a:p>
            <a:r>
              <a:t>Either way, I appreciate you taking the time. Genuinely.'</a:t>
            </a:r>
          </a:p>
          <a:p/>
          <a:p>
            <a:r>
              <a:t>OBJECTION RESPONSES:</a:t>
            </a:r>
          </a:p>
          <a:p>
            <a:r>
              <a:t>• 'I already have a website' → 'I know — that's why I built this. Wanted to show you what it could look like.'</a:t>
            </a:r>
          </a:p>
          <a:p>
            <a:r>
              <a:t>• 'I don't get patients from my site' → 'That's partly because it's hard to find in Google. This is built to change that.'</a:t>
            </a:r>
          </a:p>
          <a:p>
            <a:r>
              <a:t>• 'Can I think about it?' → 'Of course — I'll send you the link right now.' Follow up in 3 days.</a:t>
            </a:r>
          </a:p>
          <a:p>
            <a:r>
              <a:t>• 'That seems expensive' → 'A single Sculptra or Kybella patient covers the whole build fee.'</a:t>
            </a:r>
          </a:p>
          <a:p/>
          <a:p>
            <a:r>
              <a:t>NOTE: Do NOT ask 'so what do you think?' Give a concrete next step (DNS) or a graceful out (share link). Both lead somewhere.</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1C2331"/>
        </a:solidFill>
        <a:effectLst/>
      </p:bgPr>
    </p:bg>
    <p:spTree>
      <p:nvGrpSpPr>
        <p:cNvPr id="1" name=""/>
        <p:cNvGrpSpPr/>
        <p:nvPr/>
      </p:nvGrpSpPr>
      <p:grpSpPr/>
      <p:sp>
        <p:nvSpPr>
          <p:cNvPr id="2" name="Rectangle 1"/>
          <p:cNvSpPr/>
          <p:nvPr/>
        </p:nvSpPr>
        <p:spPr>
          <a:xfrm>
            <a:off x="0" y="0"/>
            <a:ext cx="12188952" cy="54864"/>
          </a:xfrm>
          <a:prstGeom prst="rect">
            <a:avLst/>
          </a:prstGeom>
          <a:solidFill>
            <a:srgbClr val="C9963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1371600" y="2194560"/>
            <a:ext cx="9144000" cy="457200"/>
          </a:xfrm>
          <a:prstGeom prst="rect">
            <a:avLst/>
          </a:prstGeom>
          <a:noFill/>
        </p:spPr>
        <p:txBody>
          <a:bodyPr wrap="square">
            <a:spAutoFit/>
          </a:bodyPr>
          <a:lstStyle/>
          <a:p>
            <a:pPr algn="ctr"/>
            <a:r>
              <a:rPr sz="1100" b="1" i="0">
                <a:solidFill>
                  <a:srgbClr val="C9963E"/>
                </a:solidFill>
                <a:latin typeface="Montserrat"/>
              </a:rPr>
              <a:t>PACIFIC DERMATOLOGY</a:t>
            </a:r>
          </a:p>
        </p:txBody>
      </p:sp>
      <p:sp>
        <p:nvSpPr>
          <p:cNvPr id="4" name="TextBox 3"/>
          <p:cNvSpPr txBox="1"/>
          <p:nvPr/>
        </p:nvSpPr>
        <p:spPr>
          <a:xfrm>
            <a:off x="914400" y="2651760"/>
            <a:ext cx="10360152" cy="1280160"/>
          </a:xfrm>
          <a:prstGeom prst="rect">
            <a:avLst/>
          </a:prstGeom>
          <a:noFill/>
        </p:spPr>
        <p:txBody>
          <a:bodyPr wrap="square">
            <a:spAutoFit/>
          </a:bodyPr>
          <a:lstStyle/>
          <a:p>
            <a:pPr algn="ctr"/>
            <a:r>
              <a:rPr sz="5200" b="0" i="0">
                <a:solidFill>
                  <a:srgbClr val="FDFBF7"/>
                </a:solidFill>
                <a:latin typeface="Palatino Linotype"/>
              </a:rPr>
              <a:t>I built something for you.</a:t>
            </a:r>
          </a:p>
        </p:txBody>
      </p:sp>
      <p:sp>
        <p:nvSpPr>
          <p:cNvPr id="5" name="TextBox 4"/>
          <p:cNvSpPr txBox="1"/>
          <p:nvPr/>
        </p:nvSpPr>
        <p:spPr>
          <a:xfrm>
            <a:off x="914400" y="3977639"/>
            <a:ext cx="10360152" cy="457200"/>
          </a:xfrm>
          <a:prstGeom prst="rect">
            <a:avLst/>
          </a:prstGeom>
          <a:noFill/>
        </p:spPr>
        <p:txBody>
          <a:bodyPr wrap="square">
            <a:spAutoFit/>
          </a:bodyPr>
          <a:lstStyle/>
          <a:p>
            <a:pPr algn="ctr"/>
            <a:r>
              <a:rPr sz="1300" b="0" i="0">
                <a:solidFill>
                  <a:srgbClr val="E9E3D3"/>
                </a:solidFill>
                <a:latin typeface="Montserrat"/>
              </a:rPr>
              <a:t>[Your Name]  ·  pacific-dermatology-g5jw.vercel.app</a:t>
            </a:r>
          </a:p>
        </p:txBody>
      </p:sp>
      <p:sp>
        <p:nvSpPr>
          <p:cNvPr id="6" name="Rectangle 5"/>
          <p:cNvSpPr/>
          <p:nvPr/>
        </p:nvSpPr>
        <p:spPr>
          <a:xfrm>
            <a:off x="0" y="6803136"/>
            <a:ext cx="12188952" cy="54864"/>
          </a:xfrm>
          <a:prstGeom prst="rect">
            <a:avLst/>
          </a:prstGeom>
          <a:solidFill>
            <a:srgbClr val="C9963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1C2331"/>
        </a:solidFill>
        <a:effectLst/>
      </p:bgPr>
    </p:bg>
    <p:spTree>
      <p:nvGrpSpPr>
        <p:cNvPr id="1" name=""/>
        <p:cNvGrpSpPr/>
        <p:nvPr/>
      </p:nvGrpSpPr>
      <p:grpSpPr/>
      <p:sp>
        <p:nvSpPr>
          <p:cNvPr id="2" name="TextBox 1"/>
          <p:cNvSpPr txBox="1"/>
          <p:nvPr/>
        </p:nvSpPr>
        <p:spPr>
          <a:xfrm>
            <a:off x="548640" y="457200"/>
            <a:ext cx="3657600" cy="365760"/>
          </a:xfrm>
          <a:prstGeom prst="rect">
            <a:avLst/>
          </a:prstGeom>
          <a:noFill/>
        </p:spPr>
        <p:txBody>
          <a:bodyPr wrap="square">
            <a:spAutoFit/>
          </a:bodyPr>
          <a:lstStyle/>
          <a:p>
            <a:pPr algn="l"/>
            <a:r>
              <a:rPr sz="1000" b="1" i="0">
                <a:solidFill>
                  <a:srgbClr val="C9963E"/>
                </a:solidFill>
                <a:latin typeface="Montserrat"/>
              </a:rPr>
              <a:t>TODAY</a:t>
            </a:r>
          </a:p>
        </p:txBody>
      </p:sp>
      <p:sp>
        <p:nvSpPr>
          <p:cNvPr id="3" name="TextBox 2"/>
          <p:cNvSpPr txBox="1"/>
          <p:nvPr/>
        </p:nvSpPr>
        <p:spPr>
          <a:xfrm>
            <a:off x="548640" y="868680"/>
            <a:ext cx="10058400" cy="822960"/>
          </a:xfrm>
          <a:prstGeom prst="rect">
            <a:avLst/>
          </a:prstGeom>
          <a:noFill/>
        </p:spPr>
        <p:txBody>
          <a:bodyPr wrap="square">
            <a:spAutoFit/>
          </a:bodyPr>
          <a:lstStyle/>
          <a:p>
            <a:pPr algn="l"/>
            <a:r>
              <a:rPr sz="3600" b="0" i="0">
                <a:solidFill>
                  <a:srgbClr val="FDFBF7"/>
                </a:solidFill>
                <a:latin typeface="Palatino Linotype"/>
              </a:rPr>
              <a:t>What patients find when they Google you.</a:t>
            </a:r>
          </a:p>
        </p:txBody>
      </p:sp>
      <p:sp>
        <p:nvSpPr>
          <p:cNvPr id="4" name="Rectangle 3"/>
          <p:cNvSpPr/>
          <p:nvPr/>
        </p:nvSpPr>
        <p:spPr>
          <a:xfrm>
            <a:off x="1371600" y="1828800"/>
            <a:ext cx="9445752" cy="4206240"/>
          </a:xfrm>
          <a:prstGeom prst="rect">
            <a:avLst/>
          </a:prstGeom>
          <a:solidFill>
            <a:srgbClr val="233545"/>
          </a:solidFill>
          <a:ln w="9525">
            <a:solidFill>
              <a:srgbClr val="C9963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1371600" y="3657600"/>
            <a:ext cx="9445752" cy="548640"/>
          </a:xfrm>
          <a:prstGeom prst="rect">
            <a:avLst/>
          </a:prstGeom>
          <a:noFill/>
        </p:spPr>
        <p:txBody>
          <a:bodyPr wrap="square">
            <a:spAutoFit/>
          </a:bodyPr>
          <a:lstStyle/>
          <a:p>
            <a:pPr algn="ctr"/>
            <a:r>
              <a:rPr sz="1200" b="0" i="1">
                <a:solidFill>
                  <a:srgbClr val="64748B"/>
                </a:solidFill>
                <a:latin typeface="Montserrat"/>
              </a:rPr>
              <a:t>[ Paste screenshot of pacific-dermatology.com here ]</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1C2331"/>
        </a:solidFill>
        <a:effectLst/>
      </p:bgPr>
    </p:bg>
    <p:spTree>
      <p:nvGrpSpPr>
        <p:cNvPr id="1" name=""/>
        <p:cNvGrpSpPr/>
        <p:nvPr/>
      </p:nvGrpSpPr>
      <p:grpSpPr/>
      <p:sp>
        <p:nvSpPr>
          <p:cNvPr id="2" name="TextBox 1"/>
          <p:cNvSpPr txBox="1"/>
          <p:nvPr/>
        </p:nvSpPr>
        <p:spPr>
          <a:xfrm>
            <a:off x="914400" y="2560320"/>
            <a:ext cx="10360152" cy="822960"/>
          </a:xfrm>
          <a:prstGeom prst="rect">
            <a:avLst/>
          </a:prstGeom>
          <a:noFill/>
        </p:spPr>
        <p:txBody>
          <a:bodyPr wrap="square">
            <a:spAutoFit/>
          </a:bodyPr>
          <a:lstStyle/>
          <a:p>
            <a:pPr algn="ctr"/>
            <a:r>
              <a:rPr sz="2800" b="1" i="0">
                <a:solidFill>
                  <a:srgbClr val="C9963E"/>
                </a:solidFill>
                <a:latin typeface="Montserrat"/>
              </a:rPr>
              <a:t>→  Switch to browser tab now.</a:t>
            </a:r>
          </a:p>
        </p:txBody>
      </p:sp>
      <p:sp>
        <p:nvSpPr>
          <p:cNvPr id="3" name="TextBox 2"/>
          <p:cNvSpPr txBox="1"/>
          <p:nvPr/>
        </p:nvSpPr>
        <p:spPr>
          <a:xfrm>
            <a:off x="914400" y="6126480"/>
            <a:ext cx="10360152" cy="365760"/>
          </a:xfrm>
          <a:prstGeom prst="rect">
            <a:avLst/>
          </a:prstGeom>
          <a:noFill/>
        </p:spPr>
        <p:txBody>
          <a:bodyPr wrap="square">
            <a:spAutoFit/>
          </a:bodyPr>
          <a:lstStyle/>
          <a:p>
            <a:pPr algn="ctr"/>
            <a:r>
              <a:rPr sz="1000" b="0" i="0">
                <a:solidFill>
                  <a:srgbClr val="64748B"/>
                </a:solidFill>
                <a:latin typeface="Montserrat"/>
              </a:rPr>
              <a:t>pacific-dermatology-g5jw.vercel.app</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1C2331"/>
        </a:solidFill>
        <a:effectLst/>
      </p:bgPr>
    </p:bg>
    <p:spTree>
      <p:nvGrpSpPr>
        <p:cNvPr id="1" name=""/>
        <p:cNvGrpSpPr/>
        <p:nvPr/>
      </p:nvGrpSpPr>
      <p:grpSpPr/>
      <p:sp>
        <p:nvSpPr>
          <p:cNvPr id="2" name="TextBox 1"/>
          <p:cNvSpPr txBox="1"/>
          <p:nvPr/>
        </p:nvSpPr>
        <p:spPr>
          <a:xfrm>
            <a:off x="548640" y="457200"/>
            <a:ext cx="3657600" cy="365760"/>
          </a:xfrm>
          <a:prstGeom prst="rect">
            <a:avLst/>
          </a:prstGeom>
          <a:noFill/>
        </p:spPr>
        <p:txBody>
          <a:bodyPr wrap="square">
            <a:spAutoFit/>
          </a:bodyPr>
          <a:lstStyle/>
          <a:p>
            <a:pPr algn="l"/>
            <a:r>
              <a:rPr sz="1000" b="1" i="0">
                <a:solidFill>
                  <a:srgbClr val="C9963E"/>
                </a:solidFill>
                <a:latin typeface="Montserrat"/>
              </a:rPr>
              <a:t>WALKTHROUGH</a:t>
            </a:r>
          </a:p>
        </p:txBody>
      </p:sp>
      <p:sp>
        <p:nvSpPr>
          <p:cNvPr id="3" name="TextBox 2"/>
          <p:cNvSpPr txBox="1"/>
          <p:nvPr/>
        </p:nvSpPr>
        <p:spPr>
          <a:xfrm>
            <a:off x="548640" y="868680"/>
            <a:ext cx="8229600" cy="731520"/>
          </a:xfrm>
          <a:prstGeom prst="rect">
            <a:avLst/>
          </a:prstGeom>
          <a:noFill/>
        </p:spPr>
        <p:txBody>
          <a:bodyPr wrap="square">
            <a:spAutoFit/>
          </a:bodyPr>
          <a:lstStyle/>
          <a:p>
            <a:pPr algn="l"/>
            <a:r>
              <a:rPr sz="3600" b="0" i="0">
                <a:solidFill>
                  <a:srgbClr val="FDFBF7"/>
                </a:solidFill>
                <a:latin typeface="Palatino Linotype"/>
              </a:rPr>
              <a:t>Stay on the live site.</a:t>
            </a:r>
          </a:p>
        </p:txBody>
      </p:sp>
      <p:sp>
        <p:nvSpPr>
          <p:cNvPr id="4" name="Rectangle 3"/>
          <p:cNvSpPr/>
          <p:nvPr/>
        </p:nvSpPr>
        <p:spPr>
          <a:xfrm>
            <a:off x="548640" y="1920240"/>
            <a:ext cx="10972800" cy="1097280"/>
          </a:xfrm>
          <a:prstGeom prst="rect">
            <a:avLst/>
          </a:prstGeom>
          <a:solidFill>
            <a:srgbClr val="233545"/>
          </a:solidFill>
          <a:ln w="6350">
            <a:solidFill>
              <a:srgbClr val="2D374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822960" y="2029968"/>
            <a:ext cx="3657600" cy="347472"/>
          </a:xfrm>
          <a:prstGeom prst="rect">
            <a:avLst/>
          </a:prstGeom>
          <a:noFill/>
        </p:spPr>
        <p:txBody>
          <a:bodyPr wrap="square">
            <a:spAutoFit/>
          </a:bodyPr>
          <a:lstStyle/>
          <a:p>
            <a:pPr algn="l"/>
            <a:r>
              <a:rPr sz="1100" b="1" i="0">
                <a:solidFill>
                  <a:srgbClr val="C9963E"/>
                </a:solidFill>
                <a:latin typeface="Montserrat"/>
              </a:rPr>
              <a:t>About Section</a:t>
            </a:r>
          </a:p>
        </p:txBody>
      </p:sp>
      <p:sp>
        <p:nvSpPr>
          <p:cNvPr id="6" name="TextBox 5"/>
          <p:cNvSpPr txBox="1"/>
          <p:nvPr/>
        </p:nvSpPr>
        <p:spPr>
          <a:xfrm>
            <a:off x="822960" y="2395728"/>
            <a:ext cx="10058400" cy="457200"/>
          </a:xfrm>
          <a:prstGeom prst="rect">
            <a:avLst/>
          </a:prstGeom>
          <a:noFill/>
        </p:spPr>
        <p:txBody>
          <a:bodyPr wrap="square">
            <a:spAutoFit/>
          </a:bodyPr>
          <a:lstStyle/>
          <a:p>
            <a:pPr algn="l"/>
            <a:r>
              <a:rPr sz="1400" b="0" i="0">
                <a:solidFill>
                  <a:srgbClr val="E9E3D3"/>
                </a:solidFill>
                <a:latin typeface="Montserrat"/>
              </a:rPr>
              <a:t>His actual headshot. Not a template.</a:t>
            </a:r>
          </a:p>
        </p:txBody>
      </p:sp>
      <p:sp>
        <p:nvSpPr>
          <p:cNvPr id="7" name="Rectangle 6"/>
          <p:cNvSpPr/>
          <p:nvPr/>
        </p:nvSpPr>
        <p:spPr>
          <a:xfrm>
            <a:off x="548640" y="3246120"/>
            <a:ext cx="10972800" cy="1097280"/>
          </a:xfrm>
          <a:prstGeom prst="rect">
            <a:avLst/>
          </a:prstGeom>
          <a:solidFill>
            <a:srgbClr val="233545"/>
          </a:solidFill>
          <a:ln w="6350">
            <a:solidFill>
              <a:srgbClr val="2D374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822960" y="3355848"/>
            <a:ext cx="3657600" cy="347472"/>
          </a:xfrm>
          <a:prstGeom prst="rect">
            <a:avLst/>
          </a:prstGeom>
          <a:noFill/>
        </p:spPr>
        <p:txBody>
          <a:bodyPr wrap="square">
            <a:spAutoFit/>
          </a:bodyPr>
          <a:lstStyle/>
          <a:p>
            <a:pPr algn="l"/>
            <a:r>
              <a:rPr sz="1100" b="1" i="0">
                <a:solidFill>
                  <a:srgbClr val="C9963E"/>
                </a:solidFill>
                <a:latin typeface="Montserrat"/>
              </a:rPr>
              <a:t>Services Page</a:t>
            </a:r>
          </a:p>
        </p:txBody>
      </p:sp>
      <p:sp>
        <p:nvSpPr>
          <p:cNvPr id="9" name="TextBox 8"/>
          <p:cNvSpPr txBox="1"/>
          <p:nvPr/>
        </p:nvSpPr>
        <p:spPr>
          <a:xfrm>
            <a:off x="822960" y="3721608"/>
            <a:ext cx="10058400" cy="457200"/>
          </a:xfrm>
          <a:prstGeom prst="rect">
            <a:avLst/>
          </a:prstGeom>
          <a:noFill/>
        </p:spPr>
        <p:txBody>
          <a:bodyPr wrap="square">
            <a:spAutoFit/>
          </a:bodyPr>
          <a:lstStyle/>
          <a:p>
            <a:pPr algn="l"/>
            <a:r>
              <a:rPr sz="1400" b="0" i="0">
                <a:solidFill>
                  <a:srgbClr val="E9E3D3"/>
                </a:solidFill>
                <a:latin typeface="Montserrat"/>
              </a:rPr>
              <a:t>Every treatment, medical and cosmetic.</a:t>
            </a:r>
          </a:p>
        </p:txBody>
      </p:sp>
      <p:sp>
        <p:nvSpPr>
          <p:cNvPr id="10" name="Rectangle 9"/>
          <p:cNvSpPr/>
          <p:nvPr/>
        </p:nvSpPr>
        <p:spPr>
          <a:xfrm>
            <a:off x="548640" y="4572000"/>
            <a:ext cx="10972800" cy="1097280"/>
          </a:xfrm>
          <a:prstGeom prst="rect">
            <a:avLst/>
          </a:prstGeom>
          <a:solidFill>
            <a:srgbClr val="233545"/>
          </a:solidFill>
          <a:ln w="6350">
            <a:solidFill>
              <a:srgbClr val="2D374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822960" y="4681728"/>
            <a:ext cx="3657600" cy="347472"/>
          </a:xfrm>
          <a:prstGeom prst="rect">
            <a:avLst/>
          </a:prstGeom>
          <a:noFill/>
        </p:spPr>
        <p:txBody>
          <a:bodyPr wrap="square">
            <a:spAutoFit/>
          </a:bodyPr>
          <a:lstStyle/>
          <a:p>
            <a:pPr algn="l"/>
            <a:r>
              <a:rPr sz="1100" b="1" i="0">
                <a:solidFill>
                  <a:srgbClr val="C9963E"/>
                </a:solidFill>
                <a:latin typeface="Montserrat"/>
              </a:rPr>
              <a:t>Contact Page</a:t>
            </a:r>
          </a:p>
        </p:txBody>
      </p:sp>
      <p:sp>
        <p:nvSpPr>
          <p:cNvPr id="12" name="TextBox 11"/>
          <p:cNvSpPr txBox="1"/>
          <p:nvPr/>
        </p:nvSpPr>
        <p:spPr>
          <a:xfrm>
            <a:off x="822960" y="5047488"/>
            <a:ext cx="10058400" cy="457200"/>
          </a:xfrm>
          <a:prstGeom prst="rect">
            <a:avLst/>
          </a:prstGeom>
          <a:noFill/>
        </p:spPr>
        <p:txBody>
          <a:bodyPr wrap="square">
            <a:spAutoFit/>
          </a:bodyPr>
          <a:lstStyle/>
          <a:p>
            <a:pPr algn="l"/>
            <a:r>
              <a:rPr sz="1400" b="0" i="0">
                <a:solidFill>
                  <a:srgbClr val="E9E3D3"/>
                </a:solidFill>
                <a:latin typeface="Montserrat"/>
              </a:rPr>
              <a:t>Address, phone, form, and Google Maps.</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1C2331"/>
        </a:solidFill>
        <a:effectLst/>
      </p:bgPr>
    </p:bg>
    <p:spTree>
      <p:nvGrpSpPr>
        <p:cNvPr id="1" name=""/>
        <p:cNvGrpSpPr/>
        <p:nvPr/>
      </p:nvGrpSpPr>
      <p:grpSpPr/>
      <p:sp>
        <p:nvSpPr>
          <p:cNvPr id="2" name="TextBox 1"/>
          <p:cNvSpPr txBox="1"/>
          <p:nvPr/>
        </p:nvSpPr>
        <p:spPr>
          <a:xfrm>
            <a:off x="548640" y="457200"/>
            <a:ext cx="5486400" cy="365760"/>
          </a:xfrm>
          <a:prstGeom prst="rect">
            <a:avLst/>
          </a:prstGeom>
          <a:noFill/>
        </p:spPr>
        <p:txBody>
          <a:bodyPr wrap="square">
            <a:spAutoFit/>
          </a:bodyPr>
          <a:lstStyle/>
          <a:p>
            <a:pPr algn="l"/>
            <a:r>
              <a:rPr sz="1000" b="1" i="0">
                <a:solidFill>
                  <a:srgbClr val="C9963E"/>
                </a:solidFill>
                <a:latin typeface="Montserrat"/>
              </a:rPr>
              <a:t>WHY I BUILT THIS</a:t>
            </a:r>
          </a:p>
        </p:txBody>
      </p:sp>
      <p:sp>
        <p:nvSpPr>
          <p:cNvPr id="3" name="TextBox 2"/>
          <p:cNvSpPr txBox="1"/>
          <p:nvPr/>
        </p:nvSpPr>
        <p:spPr>
          <a:xfrm>
            <a:off x="548640" y="868680"/>
            <a:ext cx="10058400" cy="822960"/>
          </a:xfrm>
          <a:prstGeom prst="rect">
            <a:avLst/>
          </a:prstGeom>
          <a:noFill/>
        </p:spPr>
        <p:txBody>
          <a:bodyPr wrap="square">
            <a:spAutoFit/>
          </a:bodyPr>
          <a:lstStyle/>
          <a:p>
            <a:pPr algn="l"/>
            <a:r>
              <a:rPr sz="3800" b="0" i="0">
                <a:solidFill>
                  <a:srgbClr val="FDFBF7"/>
                </a:solidFill>
                <a:latin typeface="Palatino Linotype"/>
              </a:rPr>
              <a:t>Former Patient → Web Developer.</a:t>
            </a:r>
          </a:p>
        </p:txBody>
      </p:sp>
      <p:cxnSp>
        <p:nvCxnSpPr>
          <p:cNvPr id="4" name="Connector 3"/>
          <p:cNvCxnSpPr/>
          <p:nvPr/>
        </p:nvCxnSpPr>
        <p:spPr>
          <a:xfrm>
            <a:off x="548640" y="1874519"/>
            <a:ext cx="3657600" cy="0"/>
          </a:xfrm>
          <a:prstGeom prst="line">
            <a:avLst/>
          </a:prstGeom>
          <a:ln w="9525">
            <a:solidFill>
              <a:srgbClr val="C9963E"/>
            </a:solidFill>
          </a:ln>
        </p:spPr>
        <p:style>
          <a:lnRef idx="2">
            <a:schemeClr val="accent1"/>
          </a:lnRef>
          <a:fillRef idx="0">
            <a:schemeClr val="accent1"/>
          </a:fillRef>
          <a:effectRef idx="1">
            <a:schemeClr val="accent1"/>
          </a:effectRef>
          <a:fontRef idx="minor">
            <a:schemeClr val="tx1"/>
          </a:fontRef>
        </p:style>
      </p:cxnSp>
      <p:sp>
        <p:nvSpPr>
          <p:cNvPr id="5" name="TextBox 4"/>
          <p:cNvSpPr txBox="1"/>
          <p:nvPr/>
        </p:nvSpPr>
        <p:spPr>
          <a:xfrm>
            <a:off x="548640" y="2103120"/>
            <a:ext cx="7772400" cy="2011680"/>
          </a:xfrm>
          <a:prstGeom prst="rect">
            <a:avLst/>
          </a:prstGeom>
          <a:noFill/>
        </p:spPr>
        <p:txBody>
          <a:bodyPr wrap="square">
            <a:spAutoFit/>
          </a:bodyPr>
          <a:lstStyle/>
          <a:p>
            <a:pPr algn="l"/>
            <a:r>
              <a:rPr sz="1800" b="0" i="0">
                <a:solidFill>
                  <a:srgbClr val="E9E3D3"/>
                </a:solidFill>
                <a:latin typeface="Montserrat"/>
              </a:rPr>
              <a:t>I was your patient. I trust you as a doctor.
When I started learning web development, I wanted
a real project — not a tutorial. Your practice came to mind.</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1C2331"/>
        </a:solidFill>
        <a:effectLst/>
      </p:bgPr>
    </p:bg>
    <p:spTree>
      <p:nvGrpSpPr>
        <p:cNvPr id="1" name=""/>
        <p:cNvGrpSpPr/>
        <p:nvPr/>
      </p:nvGrpSpPr>
      <p:grpSpPr/>
      <p:sp>
        <p:nvSpPr>
          <p:cNvPr id="2" name="TextBox 1"/>
          <p:cNvSpPr txBox="1"/>
          <p:nvPr/>
        </p:nvSpPr>
        <p:spPr>
          <a:xfrm>
            <a:off x="548640" y="457200"/>
            <a:ext cx="3657600" cy="365760"/>
          </a:xfrm>
          <a:prstGeom prst="rect">
            <a:avLst/>
          </a:prstGeom>
          <a:noFill/>
        </p:spPr>
        <p:txBody>
          <a:bodyPr wrap="square">
            <a:spAutoFit/>
          </a:bodyPr>
          <a:lstStyle/>
          <a:p>
            <a:pPr algn="l"/>
            <a:r>
              <a:rPr sz="1000" b="1" i="0">
                <a:solidFill>
                  <a:srgbClr val="C9963E"/>
                </a:solidFill>
                <a:latin typeface="Montserrat"/>
              </a:rPr>
              <a:t>THE PROPOSAL</a:t>
            </a:r>
          </a:p>
        </p:txBody>
      </p:sp>
      <p:sp>
        <p:nvSpPr>
          <p:cNvPr id="3" name="TextBox 2"/>
          <p:cNvSpPr txBox="1"/>
          <p:nvPr/>
        </p:nvSpPr>
        <p:spPr>
          <a:xfrm>
            <a:off x="0" y="1005840"/>
            <a:ext cx="12188952" cy="2011680"/>
          </a:xfrm>
          <a:prstGeom prst="rect">
            <a:avLst/>
          </a:prstGeom>
          <a:noFill/>
        </p:spPr>
        <p:txBody>
          <a:bodyPr wrap="square">
            <a:spAutoFit/>
          </a:bodyPr>
          <a:lstStyle/>
          <a:p>
            <a:pPr algn="ctr"/>
            <a:r>
              <a:rPr sz="11000" b="0" i="0">
                <a:solidFill>
                  <a:srgbClr val="C9963E"/>
                </a:solidFill>
                <a:latin typeface="Palatino Linotype"/>
              </a:rPr>
              <a:t>$750</a:t>
            </a:r>
          </a:p>
        </p:txBody>
      </p:sp>
      <p:sp>
        <p:nvSpPr>
          <p:cNvPr id="4" name="TextBox 3"/>
          <p:cNvSpPr txBox="1"/>
          <p:nvPr/>
        </p:nvSpPr>
        <p:spPr>
          <a:xfrm>
            <a:off x="0" y="3063240"/>
            <a:ext cx="12188952" cy="457200"/>
          </a:xfrm>
          <a:prstGeom prst="rect">
            <a:avLst/>
          </a:prstGeom>
          <a:noFill/>
        </p:spPr>
        <p:txBody>
          <a:bodyPr wrap="square">
            <a:spAutoFit/>
          </a:bodyPr>
          <a:lstStyle/>
          <a:p>
            <a:pPr algn="ctr"/>
            <a:r>
              <a:rPr sz="1300" b="0" i="0">
                <a:solidFill>
                  <a:srgbClr val="E9E3D3"/>
                </a:solidFill>
                <a:latin typeface="Montserrat"/>
              </a:rPr>
              <a:t>one-time  ·  site is yours  ·  live under your domain in one week</a:t>
            </a:r>
          </a:p>
        </p:txBody>
      </p:sp>
      <p:cxnSp>
        <p:nvCxnSpPr>
          <p:cNvPr id="5" name="Connector 4"/>
          <p:cNvCxnSpPr/>
          <p:nvPr/>
        </p:nvCxnSpPr>
        <p:spPr>
          <a:xfrm>
            <a:off x="3200400" y="3749039"/>
            <a:ext cx="5788152" cy="0"/>
          </a:xfrm>
          <a:prstGeom prst="line">
            <a:avLst/>
          </a:prstGeom>
          <a:ln w="6350">
            <a:solidFill>
              <a:srgbClr val="C9963E"/>
            </a:solidFill>
          </a:ln>
        </p:spPr>
        <p:style>
          <a:lnRef idx="2">
            <a:schemeClr val="accent1"/>
          </a:lnRef>
          <a:fillRef idx="0">
            <a:schemeClr val="accent1"/>
          </a:fillRef>
          <a:effectRef idx="1">
            <a:schemeClr val="accent1"/>
          </a:effectRef>
          <a:fontRef idx="minor">
            <a:schemeClr val="tx1"/>
          </a:fontRef>
        </p:style>
      </p:cxnSp>
      <p:sp>
        <p:nvSpPr>
          <p:cNvPr id="6" name="TextBox 5"/>
          <p:cNvSpPr txBox="1"/>
          <p:nvPr/>
        </p:nvSpPr>
        <p:spPr>
          <a:xfrm>
            <a:off x="0" y="3931920"/>
            <a:ext cx="12188952" cy="457200"/>
          </a:xfrm>
          <a:prstGeom prst="rect">
            <a:avLst/>
          </a:prstGeom>
          <a:noFill/>
        </p:spPr>
        <p:txBody>
          <a:bodyPr wrap="square">
            <a:spAutoFit/>
          </a:bodyPr>
          <a:lstStyle/>
          <a:p>
            <a:pPr algn="ctr"/>
            <a:r>
              <a:rPr sz="1300" b="0" i="0">
                <a:solidFill>
                  <a:srgbClr val="64748B"/>
                </a:solidFill>
                <a:latin typeface="Montserrat"/>
              </a:rPr>
              <a:t>Dermatology agencies charge $8,000 – $15,000 + $1,000 / month.</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1C2331"/>
        </a:solidFill>
        <a:effectLst/>
      </p:bgPr>
    </p:bg>
    <p:spTree>
      <p:nvGrpSpPr>
        <p:cNvPr id="1" name=""/>
        <p:cNvGrpSpPr/>
        <p:nvPr/>
      </p:nvGrpSpPr>
      <p:grpSpPr/>
      <p:sp>
        <p:nvSpPr>
          <p:cNvPr id="2" name="TextBox 1"/>
          <p:cNvSpPr txBox="1"/>
          <p:nvPr/>
        </p:nvSpPr>
        <p:spPr>
          <a:xfrm>
            <a:off x="548640" y="457200"/>
            <a:ext cx="9144000" cy="365760"/>
          </a:xfrm>
          <a:prstGeom prst="rect">
            <a:avLst/>
          </a:prstGeom>
          <a:noFill/>
        </p:spPr>
        <p:txBody>
          <a:bodyPr wrap="square">
            <a:spAutoFit/>
          </a:bodyPr>
          <a:lstStyle/>
          <a:p>
            <a:pPr algn="l"/>
            <a:r>
              <a:rPr sz="1000" b="1" i="0">
                <a:solidFill>
                  <a:srgbClr val="C9963E"/>
                </a:solidFill>
                <a:latin typeface="Montserrat"/>
              </a:rPr>
              <a:t>IF YOU WANT TO KEEP GROWING IT</a:t>
            </a:r>
          </a:p>
        </p:txBody>
      </p:sp>
      <p:sp>
        <p:nvSpPr>
          <p:cNvPr id="3" name="TextBox 2"/>
          <p:cNvSpPr txBox="1"/>
          <p:nvPr/>
        </p:nvSpPr>
        <p:spPr>
          <a:xfrm>
            <a:off x="548640" y="868680"/>
            <a:ext cx="10058400" cy="731520"/>
          </a:xfrm>
          <a:prstGeom prst="rect">
            <a:avLst/>
          </a:prstGeom>
          <a:noFill/>
        </p:spPr>
        <p:txBody>
          <a:bodyPr wrap="square">
            <a:spAutoFit/>
          </a:bodyPr>
          <a:lstStyle/>
          <a:p>
            <a:pPr algn="l"/>
            <a:r>
              <a:rPr sz="3600" b="0" i="0">
                <a:solidFill>
                  <a:srgbClr val="FDFBF7"/>
                </a:solidFill>
                <a:latin typeface="Palatino Linotype"/>
              </a:rPr>
              <a:t>What we could build together.</a:t>
            </a:r>
          </a:p>
        </p:txBody>
      </p:sp>
      <p:sp>
        <p:nvSpPr>
          <p:cNvPr id="4" name="TextBox 3"/>
          <p:cNvSpPr txBox="1"/>
          <p:nvPr/>
        </p:nvSpPr>
        <p:spPr>
          <a:xfrm>
            <a:off x="548640" y="1920240"/>
            <a:ext cx="5029200" cy="411480"/>
          </a:xfrm>
          <a:prstGeom prst="rect">
            <a:avLst/>
          </a:prstGeom>
          <a:noFill/>
        </p:spPr>
        <p:txBody>
          <a:bodyPr wrap="square">
            <a:spAutoFit/>
          </a:bodyPr>
          <a:lstStyle/>
          <a:p>
            <a:pPr algn="l"/>
            <a:r>
              <a:rPr sz="1300" b="1" i="0">
                <a:solidFill>
                  <a:srgbClr val="C9963E"/>
                </a:solidFill>
                <a:latin typeface="Montserrat"/>
              </a:rPr>
              <a:t>SEO Pages</a:t>
            </a:r>
          </a:p>
        </p:txBody>
      </p:sp>
      <p:sp>
        <p:nvSpPr>
          <p:cNvPr id="5" name="TextBox 4"/>
          <p:cNvSpPr txBox="1"/>
          <p:nvPr/>
        </p:nvSpPr>
        <p:spPr>
          <a:xfrm>
            <a:off x="548640" y="2331720"/>
            <a:ext cx="5303520" cy="1280160"/>
          </a:xfrm>
          <a:prstGeom prst="rect">
            <a:avLst/>
          </a:prstGeom>
          <a:noFill/>
        </p:spPr>
        <p:txBody>
          <a:bodyPr wrap="square">
            <a:spAutoFit/>
          </a:bodyPr>
          <a:lstStyle/>
          <a:p>
            <a:pPr algn="l"/>
            <a:r>
              <a:rPr sz="1400" b="0" i="0">
                <a:solidFill>
                  <a:srgbClr val="E9E3D3"/>
                </a:solidFill>
                <a:latin typeface="Montserrat"/>
              </a:rPr>
              <a:t>One page per treatment.
'Kybella Pleasanton.' 'Daxxify Pleasanton.'
Show up when patients search.</a:t>
            </a:r>
          </a:p>
        </p:txBody>
      </p:sp>
      <p:sp>
        <p:nvSpPr>
          <p:cNvPr id="6" name="TextBox 5"/>
          <p:cNvSpPr txBox="1"/>
          <p:nvPr/>
        </p:nvSpPr>
        <p:spPr>
          <a:xfrm>
            <a:off x="548640" y="3931920"/>
            <a:ext cx="5029200" cy="411480"/>
          </a:xfrm>
          <a:prstGeom prst="rect">
            <a:avLst/>
          </a:prstGeom>
          <a:noFill/>
        </p:spPr>
        <p:txBody>
          <a:bodyPr wrap="square">
            <a:spAutoFit/>
          </a:bodyPr>
          <a:lstStyle/>
          <a:p>
            <a:pPr algn="l"/>
            <a:r>
              <a:rPr sz="1300" b="1" i="0">
                <a:solidFill>
                  <a:srgbClr val="C9963E"/>
                </a:solidFill>
                <a:latin typeface="Montserrat"/>
              </a:rPr>
              <a:t>Google Business</a:t>
            </a:r>
          </a:p>
        </p:txBody>
      </p:sp>
      <p:sp>
        <p:nvSpPr>
          <p:cNvPr id="7" name="TextBox 6"/>
          <p:cNvSpPr txBox="1"/>
          <p:nvPr/>
        </p:nvSpPr>
        <p:spPr>
          <a:xfrm>
            <a:off x="548640" y="4343400"/>
            <a:ext cx="5303520" cy="1280160"/>
          </a:xfrm>
          <a:prstGeom prst="rect">
            <a:avLst/>
          </a:prstGeom>
          <a:noFill/>
        </p:spPr>
        <p:txBody>
          <a:bodyPr wrap="square">
            <a:spAutoFit/>
          </a:bodyPr>
          <a:lstStyle/>
          <a:p>
            <a:pPr algn="l"/>
            <a:r>
              <a:rPr sz="1400" b="0" i="0">
                <a:solidFill>
                  <a:srgbClr val="E9E3D3"/>
                </a:solidFill>
                <a:latin typeface="Montserrat"/>
              </a:rPr>
              <a:t>Profile updates, reviews,
local search visibility.</a:t>
            </a:r>
          </a:p>
        </p:txBody>
      </p:sp>
      <p:sp>
        <p:nvSpPr>
          <p:cNvPr id="8" name="TextBox 7"/>
          <p:cNvSpPr txBox="1"/>
          <p:nvPr/>
        </p:nvSpPr>
        <p:spPr>
          <a:xfrm>
            <a:off x="6400800" y="1920240"/>
            <a:ext cx="5029200" cy="411480"/>
          </a:xfrm>
          <a:prstGeom prst="rect">
            <a:avLst/>
          </a:prstGeom>
          <a:noFill/>
        </p:spPr>
        <p:txBody>
          <a:bodyPr wrap="square">
            <a:spAutoFit/>
          </a:bodyPr>
          <a:lstStyle/>
          <a:p>
            <a:pPr algn="l"/>
            <a:r>
              <a:rPr sz="1300" b="1" i="0">
                <a:solidFill>
                  <a:srgbClr val="C9963E"/>
                </a:solidFill>
                <a:latin typeface="Montserrat"/>
              </a:rPr>
              <a:t>Monthly Reports</a:t>
            </a:r>
          </a:p>
        </p:txBody>
      </p:sp>
      <p:sp>
        <p:nvSpPr>
          <p:cNvPr id="9" name="TextBox 8"/>
          <p:cNvSpPr txBox="1"/>
          <p:nvPr/>
        </p:nvSpPr>
        <p:spPr>
          <a:xfrm>
            <a:off x="6400800" y="2331720"/>
            <a:ext cx="5303520" cy="1280160"/>
          </a:xfrm>
          <a:prstGeom prst="rect">
            <a:avLst/>
          </a:prstGeom>
          <a:noFill/>
        </p:spPr>
        <p:txBody>
          <a:bodyPr wrap="square">
            <a:spAutoFit/>
          </a:bodyPr>
          <a:lstStyle/>
          <a:p>
            <a:pPr algn="l"/>
            <a:r>
              <a:rPr sz="1400" b="0" i="0">
                <a:solidFill>
                  <a:srgbClr val="E9E3D3"/>
                </a:solidFill>
                <a:latin typeface="Montserrat"/>
              </a:rPr>
              <a:t>Traffic, leads, top pages.
GA4 analytics every month.</a:t>
            </a:r>
          </a:p>
        </p:txBody>
      </p:sp>
      <p:sp>
        <p:nvSpPr>
          <p:cNvPr id="10" name="TextBox 9"/>
          <p:cNvSpPr txBox="1"/>
          <p:nvPr/>
        </p:nvSpPr>
        <p:spPr>
          <a:xfrm>
            <a:off x="6400800" y="3931920"/>
            <a:ext cx="5029200" cy="411480"/>
          </a:xfrm>
          <a:prstGeom prst="rect">
            <a:avLst/>
          </a:prstGeom>
          <a:noFill/>
        </p:spPr>
        <p:txBody>
          <a:bodyPr wrap="square">
            <a:spAutoFit/>
          </a:bodyPr>
          <a:lstStyle/>
          <a:p>
            <a:pPr algn="l"/>
            <a:r>
              <a:rPr sz="1300" b="1" i="0">
                <a:solidFill>
                  <a:srgbClr val="C9963E"/>
                </a:solidFill>
                <a:latin typeface="Montserrat"/>
              </a:rPr>
              <a:t>Phase 2</a:t>
            </a:r>
          </a:p>
        </p:txBody>
      </p:sp>
      <p:sp>
        <p:nvSpPr>
          <p:cNvPr id="11" name="TextBox 10"/>
          <p:cNvSpPr txBox="1"/>
          <p:nvPr/>
        </p:nvSpPr>
        <p:spPr>
          <a:xfrm>
            <a:off x="6400800" y="4343400"/>
            <a:ext cx="5303520" cy="1280160"/>
          </a:xfrm>
          <a:prstGeom prst="rect">
            <a:avLst/>
          </a:prstGeom>
          <a:noFill/>
        </p:spPr>
        <p:txBody>
          <a:bodyPr wrap="square">
            <a:spAutoFit/>
          </a:bodyPr>
          <a:lstStyle/>
          <a:p>
            <a:pPr algn="l"/>
            <a:r>
              <a:rPr sz="1400" b="0" i="0">
                <a:solidFill>
                  <a:srgbClr val="E9E3D3"/>
                </a:solidFill>
                <a:latin typeface="Montserrat"/>
              </a:rPr>
              <a:t>Booking, before/after gallery,
blog — when you're ready.</a:t>
            </a:r>
          </a:p>
        </p:txBody>
      </p:sp>
      <p:sp>
        <p:nvSpPr>
          <p:cNvPr id="12" name="TextBox 11"/>
          <p:cNvSpPr txBox="1"/>
          <p:nvPr/>
        </p:nvSpPr>
        <p:spPr>
          <a:xfrm>
            <a:off x="0" y="6217920"/>
            <a:ext cx="12188952" cy="365760"/>
          </a:xfrm>
          <a:prstGeom prst="rect">
            <a:avLst/>
          </a:prstGeom>
          <a:noFill/>
        </p:spPr>
        <p:txBody>
          <a:bodyPr wrap="square">
            <a:spAutoFit/>
          </a:bodyPr>
          <a:lstStyle/>
          <a:p>
            <a:pPr algn="ctr"/>
            <a:r>
              <a:rPr sz="1100" b="0" i="0">
                <a:solidFill>
                  <a:srgbClr val="64748B"/>
                </a:solidFill>
                <a:latin typeface="Montserrat"/>
              </a:rPr>
              <a:t>Month-to-month · No long commitment · $150–$250 / month depending on scope</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1C2331"/>
        </a:solidFill>
        <a:effectLst/>
      </p:bgPr>
    </p:bg>
    <p:spTree>
      <p:nvGrpSpPr>
        <p:cNvPr id="1" name=""/>
        <p:cNvGrpSpPr/>
        <p:nvPr/>
      </p:nvGrpSpPr>
      <p:grpSpPr/>
      <p:sp>
        <p:nvSpPr>
          <p:cNvPr id="2" name="Rectangle 1"/>
          <p:cNvSpPr/>
          <p:nvPr/>
        </p:nvSpPr>
        <p:spPr>
          <a:xfrm>
            <a:off x="0" y="0"/>
            <a:ext cx="12188952" cy="54864"/>
          </a:xfrm>
          <a:prstGeom prst="rect">
            <a:avLst/>
          </a:prstGeom>
          <a:solidFill>
            <a:srgbClr val="C9963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457200"/>
            <a:ext cx="5486400" cy="365760"/>
          </a:xfrm>
          <a:prstGeom prst="rect">
            <a:avLst/>
          </a:prstGeom>
          <a:noFill/>
        </p:spPr>
        <p:txBody>
          <a:bodyPr wrap="square">
            <a:spAutoFit/>
          </a:bodyPr>
          <a:lstStyle/>
          <a:p>
            <a:pPr algn="l"/>
            <a:r>
              <a:rPr sz="1000" b="1" i="0">
                <a:solidFill>
                  <a:srgbClr val="C9963E"/>
                </a:solidFill>
                <a:latin typeface="Montserrat"/>
              </a:rPr>
              <a:t>WHAT HAPPENS NEXT</a:t>
            </a:r>
          </a:p>
        </p:txBody>
      </p:sp>
      <p:sp>
        <p:nvSpPr>
          <p:cNvPr id="4" name="TextBox 3"/>
          <p:cNvSpPr txBox="1"/>
          <p:nvPr/>
        </p:nvSpPr>
        <p:spPr>
          <a:xfrm>
            <a:off x="548640" y="868680"/>
            <a:ext cx="8229600" cy="1463040"/>
          </a:xfrm>
          <a:prstGeom prst="rect">
            <a:avLst/>
          </a:prstGeom>
          <a:noFill/>
        </p:spPr>
        <p:txBody>
          <a:bodyPr wrap="square">
            <a:spAutoFit/>
          </a:bodyPr>
          <a:lstStyle/>
          <a:p>
            <a:pPr algn="l"/>
            <a:r>
              <a:rPr sz="4400" b="0" i="0">
                <a:solidFill>
                  <a:srgbClr val="FDFBF7"/>
                </a:solidFill>
                <a:latin typeface="Palatino Linotype"/>
              </a:rPr>
              <a:t>Live under your domain.
One week.</a:t>
            </a:r>
          </a:p>
        </p:txBody>
      </p:sp>
      <p:sp>
        <p:nvSpPr>
          <p:cNvPr id="5" name="Rectangle 4"/>
          <p:cNvSpPr/>
          <p:nvPr/>
        </p:nvSpPr>
        <p:spPr>
          <a:xfrm>
            <a:off x="548640" y="2743200"/>
            <a:ext cx="109728" cy="109728"/>
          </a:xfrm>
          <a:prstGeom prst="rect">
            <a:avLst/>
          </a:prstGeom>
          <a:solidFill>
            <a:srgbClr val="C9963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822960" y="2606040"/>
            <a:ext cx="10058400" cy="594360"/>
          </a:xfrm>
          <a:prstGeom prst="rect">
            <a:avLst/>
          </a:prstGeom>
          <a:noFill/>
        </p:spPr>
        <p:txBody>
          <a:bodyPr wrap="square">
            <a:spAutoFit/>
          </a:bodyPr>
          <a:lstStyle/>
          <a:p>
            <a:pPr algn="l"/>
            <a:r>
              <a:rPr sz="1600" b="0" i="0">
                <a:solidFill>
                  <a:srgbClr val="E9E3D3"/>
                </a:solidFill>
                <a:latin typeface="Montserrat"/>
              </a:rPr>
              <a:t>You give me DNS access — about five minutes on your end.</a:t>
            </a:r>
          </a:p>
        </p:txBody>
      </p:sp>
      <p:sp>
        <p:nvSpPr>
          <p:cNvPr id="7" name="Rectangle 6"/>
          <p:cNvSpPr/>
          <p:nvPr/>
        </p:nvSpPr>
        <p:spPr>
          <a:xfrm>
            <a:off x="548640" y="3520440"/>
            <a:ext cx="109728" cy="109728"/>
          </a:xfrm>
          <a:prstGeom prst="rect">
            <a:avLst/>
          </a:prstGeom>
          <a:solidFill>
            <a:srgbClr val="C9963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822960" y="3383280"/>
            <a:ext cx="10058400" cy="594360"/>
          </a:xfrm>
          <a:prstGeom prst="rect">
            <a:avLst/>
          </a:prstGeom>
          <a:noFill/>
        </p:spPr>
        <p:txBody>
          <a:bodyPr wrap="square">
            <a:spAutoFit/>
          </a:bodyPr>
          <a:lstStyle/>
          <a:p>
            <a:pPr algn="l"/>
            <a:r>
              <a:rPr sz="1600" b="0" i="0">
                <a:solidFill>
                  <a:srgbClr val="E9E3D3"/>
                </a:solidFill>
                <a:latin typeface="Montserrat"/>
              </a:rPr>
              <a:t>I handle everything. You never think about your website again.</a:t>
            </a:r>
          </a:p>
        </p:txBody>
      </p:sp>
      <p:sp>
        <p:nvSpPr>
          <p:cNvPr id="9" name="TextBox 8"/>
          <p:cNvSpPr txBox="1"/>
          <p:nvPr/>
        </p:nvSpPr>
        <p:spPr>
          <a:xfrm>
            <a:off x="0" y="5029200"/>
            <a:ext cx="12188952" cy="365760"/>
          </a:xfrm>
          <a:prstGeom prst="rect">
            <a:avLst/>
          </a:prstGeom>
          <a:noFill/>
        </p:spPr>
        <p:txBody>
          <a:bodyPr wrap="square">
            <a:spAutoFit/>
          </a:bodyPr>
          <a:lstStyle/>
          <a:p>
            <a:pPr algn="ctr"/>
            <a:r>
              <a:rPr sz="1300" b="0" i="0">
                <a:solidFill>
                  <a:srgbClr val="C9963E"/>
                </a:solidFill>
                <a:latin typeface="Montserrat"/>
              </a:rPr>
              <a:t>pacific-dermatology-g5jw.vercel.app</a:t>
            </a:r>
          </a:p>
        </p:txBody>
      </p:sp>
      <p:sp>
        <p:nvSpPr>
          <p:cNvPr id="10" name="Rectangle 9"/>
          <p:cNvSpPr/>
          <p:nvPr/>
        </p:nvSpPr>
        <p:spPr>
          <a:xfrm>
            <a:off x="0" y="6803136"/>
            <a:ext cx="12188952" cy="54864"/>
          </a:xfrm>
          <a:prstGeom prst="rect">
            <a:avLst/>
          </a:prstGeom>
          <a:solidFill>
            <a:srgbClr val="C9963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